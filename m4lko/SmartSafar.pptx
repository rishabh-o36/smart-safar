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aleway Bold" charset="1" panose="020B0803030101060003"/>
      <p:regular r:id="rId15"/>
    </p:embeddedFont>
    <p:embeddedFont>
      <p:font typeface="Now Bold" charset="1" panose="00000800000000000000"/>
      <p:regular r:id="rId16"/>
    </p:embeddedFont>
    <p:embeddedFont>
      <p:font typeface="Now" charset="1" panose="00000500000000000000"/>
      <p:regular r:id="rId17"/>
    </p:embeddedFont>
    <p:embeddedFont>
      <p:font typeface="Raleway Heavy" charset="1" panose="020B00030301010600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10362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73496" y="3970730"/>
            <a:ext cx="13247899" cy="139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60"/>
              </a:lnSpc>
            </a:pPr>
            <a:r>
              <a:rPr lang="en-US" b="true" sz="9690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SMART SAFAR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81307" y="5923970"/>
            <a:ext cx="14525386" cy="61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 spc="700">
                <a:solidFill>
                  <a:srgbClr val="1D1D1F"/>
                </a:solidFill>
                <a:latin typeface="Now Bold"/>
                <a:ea typeface="Now Bold"/>
                <a:cs typeface="Now Bold"/>
                <a:sym typeface="Now Bold"/>
              </a:rPr>
              <a:t>AI DRIVEN SUSTAINABLE TRAVEL PLANNING 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12330646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962371" cy="1962371"/>
          </a:xfrm>
          <a:custGeom>
            <a:avLst/>
            <a:gdLst/>
            <a:ahLst/>
            <a:cxnLst/>
            <a:rect r="r" b="b" t="t" l="l"/>
            <a:pathLst>
              <a:path h="1962371" w="1962371">
                <a:moveTo>
                  <a:pt x="0" y="0"/>
                </a:moveTo>
                <a:lnTo>
                  <a:pt x="1962371" y="0"/>
                </a:lnTo>
                <a:lnTo>
                  <a:pt x="1962371" y="1962371"/>
                </a:lnTo>
                <a:lnTo>
                  <a:pt x="0" y="1962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36690" y="8703017"/>
            <a:ext cx="9414620" cy="55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1D1D1F"/>
                </a:solidFill>
                <a:latin typeface="Now Bold"/>
                <a:ea typeface="Now Bold"/>
                <a:cs typeface="Now Bold"/>
                <a:sym typeface="Now Bold"/>
              </a:rPr>
              <a:t>ABES ENGINEERING COLLEGE, GHAZIABAD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45436" y="1108914"/>
            <a:ext cx="12069068" cy="127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D1D1F"/>
                </a:solidFill>
                <a:latin typeface="Now Bold"/>
                <a:ea typeface="Now Bold"/>
                <a:cs typeface="Now Bold"/>
                <a:sym typeface="Now Bold"/>
              </a:rPr>
              <a:t>DR. A. P. J. ABDUL KALAM TECHNICAL UNIVERSITY, LUCKNOW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10362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330646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02549" y="3149655"/>
            <a:ext cx="681973" cy="681973"/>
          </a:xfrm>
          <a:custGeom>
            <a:avLst/>
            <a:gdLst/>
            <a:ahLst/>
            <a:cxnLst/>
            <a:rect r="r" b="b" t="t" l="l"/>
            <a:pathLst>
              <a:path h="681973" w="681973">
                <a:moveTo>
                  <a:pt x="0" y="0"/>
                </a:moveTo>
                <a:lnTo>
                  <a:pt x="681973" y="0"/>
                </a:lnTo>
                <a:lnTo>
                  <a:pt x="681973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50926" y="4348484"/>
            <a:ext cx="6904352" cy="356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1"/>
              </a:lnSpc>
            </a:pPr>
            <a:r>
              <a:rPr lang="en-US" sz="369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1. Shreyash Pathak</a:t>
            </a:r>
          </a:p>
          <a:p>
            <a:pPr algn="l">
              <a:lnSpc>
                <a:spcPts val="7251"/>
              </a:lnSpc>
            </a:pPr>
            <a:r>
              <a:rPr lang="en-US" sz="369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2. </a:t>
            </a:r>
            <a:r>
              <a:rPr lang="en-US" sz="369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Rishabh Yadav</a:t>
            </a:r>
          </a:p>
          <a:p>
            <a:pPr algn="l">
              <a:lnSpc>
                <a:spcPts val="7251"/>
              </a:lnSpc>
            </a:pPr>
            <a:r>
              <a:rPr lang="en-US" sz="369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3. Rishi Pandey </a:t>
            </a:r>
          </a:p>
          <a:p>
            <a:pPr algn="l">
              <a:lnSpc>
                <a:spcPts val="7251"/>
              </a:lnSpc>
            </a:pPr>
            <a:r>
              <a:rPr lang="en-US" sz="369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4. Som Tripathi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50926" y="1835255"/>
            <a:ext cx="8867191" cy="13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56"/>
              </a:lnSpc>
            </a:pPr>
            <a:r>
              <a:rPr lang="en-US" b="true" sz="8630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09272" y="512012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194642" y="-2238480"/>
            <a:ext cx="6677243" cy="9322943"/>
          </a:xfrm>
          <a:custGeom>
            <a:avLst/>
            <a:gdLst/>
            <a:ahLst/>
            <a:cxnLst/>
            <a:rect r="r" b="b" t="t" l="l"/>
            <a:pathLst>
              <a:path h="9322943" w="6677243">
                <a:moveTo>
                  <a:pt x="6677242" y="9322943"/>
                </a:moveTo>
                <a:lnTo>
                  <a:pt x="0" y="9322943"/>
                </a:lnTo>
                <a:lnTo>
                  <a:pt x="0" y="0"/>
                </a:lnTo>
                <a:lnTo>
                  <a:pt x="6677242" y="0"/>
                </a:lnTo>
                <a:lnTo>
                  <a:pt x="6677242" y="932294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28700"/>
            <a:ext cx="12745472" cy="241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</a:pPr>
            <a:r>
              <a:rPr lang="en-US" b="true" sz="7999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 ST</a:t>
            </a:r>
            <a:r>
              <a:rPr lang="en-US" b="true" sz="7999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ATEMENT</a:t>
            </a:r>
          </a:p>
          <a:p>
            <a:pPr algn="l" marL="0" indent="0" lvl="0">
              <a:lnSpc>
                <a:spcPts val="9599"/>
              </a:lnSpc>
            </a:pPr>
            <a:r>
              <a:rPr lang="en-US" b="true" sz="7999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 &amp; RELEVANCE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32143"/>
            <a:ext cx="15504563" cy="376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42"/>
              </a:lnSpc>
            </a:pPr>
            <a:r>
              <a:rPr lang="en-US" sz="333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Travel planning today is focused on bookings, but it lacks real-time insights on weather, pollution, and crowd levels. Tourists often arrive during extreme conditions, facing heavy smog, unbearable heat, or overwhelming crowds, ruining their experience. Without sustainable travel planning, over-tourism and environmental damage worsen, making smarter tourism solutions essential.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40041" y="102870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227940" y="-2321724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47775"/>
            <a:ext cx="13796062" cy="191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0"/>
              </a:lnSpc>
              <a:spcBef>
                <a:spcPct val="0"/>
              </a:spcBef>
            </a:pPr>
            <a:r>
              <a:rPr lang="en-US" b="true" sz="8078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SOL</a:t>
            </a:r>
            <a:r>
              <a:rPr lang="en-US" b="true" sz="8078" strike="noStrike" u="none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UTION DESCRIPTION</a:t>
            </a:r>
          </a:p>
          <a:p>
            <a:pPr algn="l" marL="0" indent="0" lvl="0">
              <a:lnSpc>
                <a:spcPts val="727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20366"/>
            <a:ext cx="15103263" cy="513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5011" indent="-347506" lvl="1">
              <a:lnSpc>
                <a:spcPts val="4506"/>
              </a:lnSpc>
              <a:buFont typeface="Arial"/>
              <a:buChar char="•"/>
            </a:pPr>
            <a:r>
              <a:rPr lang="en-US" sz="321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Smart Safar uses AI to analyze weather, air quality, and tourist traffic for better travel decisions.</a:t>
            </a:r>
          </a:p>
          <a:p>
            <a:pPr algn="just">
              <a:lnSpc>
                <a:spcPts val="4506"/>
              </a:lnSpc>
            </a:pPr>
          </a:p>
          <a:p>
            <a:pPr algn="just" marL="695011" indent="-347506" lvl="1">
              <a:lnSpc>
                <a:spcPts val="4506"/>
              </a:lnSpc>
              <a:buFont typeface="Arial"/>
              <a:buChar char="•"/>
            </a:pPr>
            <a:r>
              <a:rPr lang="en-US" sz="321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It helps travelers avoid pollution, overcrowding, and bad weather by suggesting the best times and places to vis</a:t>
            </a:r>
            <a:r>
              <a:rPr lang="en-US" sz="321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it.</a:t>
            </a:r>
          </a:p>
          <a:p>
            <a:pPr algn="just">
              <a:lnSpc>
                <a:spcPts val="4506"/>
              </a:lnSpc>
            </a:pPr>
          </a:p>
          <a:p>
            <a:pPr algn="just" marL="695011" indent="-347506" lvl="1">
              <a:lnSpc>
                <a:spcPts val="4506"/>
              </a:lnSpc>
              <a:buFont typeface="Arial"/>
              <a:buChar char="•"/>
            </a:pPr>
            <a:r>
              <a:rPr lang="en-US" sz="321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Promotes eco-friendly, stress-free, and responsible tourism for a smoother and more enjoyable experience.</a:t>
            </a:r>
          </a:p>
          <a:p>
            <a:pPr algn="just" marL="0" indent="0" lvl="0">
              <a:lnSpc>
                <a:spcPts val="450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40041" y="102870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227940" y="-2321724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47775"/>
            <a:ext cx="13796062" cy="100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0"/>
              </a:lnSpc>
              <a:spcBef>
                <a:spcPct val="0"/>
              </a:spcBef>
            </a:pPr>
            <a:r>
              <a:rPr lang="en-US" b="true" sz="8078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KEY FEATURES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59225"/>
            <a:ext cx="16230600" cy="569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2"/>
              </a:lnSpc>
            </a:pPr>
          </a:p>
          <a:p>
            <a:pPr algn="just" marL="702097" indent="-351049" lvl="1">
              <a:lnSpc>
                <a:spcPts val="4552"/>
              </a:lnSpc>
              <a:buFont typeface="Arial"/>
              <a:buChar char="•"/>
            </a:pPr>
            <a:r>
              <a:rPr lang="en-US" sz="3251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Weather-based travel month recommendations using historical and real-time data.</a:t>
            </a:r>
          </a:p>
          <a:p>
            <a:pPr algn="just" marL="702097" indent="-351049" lvl="1">
              <a:lnSpc>
                <a:spcPts val="4552"/>
              </a:lnSpc>
              <a:buFont typeface="Arial"/>
              <a:buChar char="•"/>
            </a:pPr>
            <a:r>
              <a:rPr lang="en-US" sz="3251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Air Quality Index (AQI) monitoring to avoid highly polluted destinations.</a:t>
            </a:r>
          </a:p>
          <a:p>
            <a:pPr algn="just" marL="702097" indent="-351049" lvl="1">
              <a:lnSpc>
                <a:spcPts val="4552"/>
              </a:lnSpc>
              <a:buFont typeface="Arial"/>
              <a:buChar char="•"/>
            </a:pPr>
            <a:r>
              <a:rPr lang="en-US" sz="3251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Crowd-level insights using tourism trend data to suggest off-peak travel.</a:t>
            </a:r>
          </a:p>
          <a:p>
            <a:pPr algn="just" marL="702097" indent="-351049" lvl="1">
              <a:lnSpc>
                <a:spcPts val="4552"/>
              </a:lnSpc>
              <a:buFont typeface="Arial"/>
              <a:buChar char="•"/>
            </a:pPr>
            <a:r>
              <a:rPr lang="en-US" sz="3251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Smart packing guides based on expec</a:t>
            </a:r>
            <a:r>
              <a:rPr lang="en-US" sz="3251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ted weather conditions.</a:t>
            </a:r>
          </a:p>
          <a:p>
            <a:pPr algn="just" marL="702097" indent="-351049" lvl="1">
              <a:lnSpc>
                <a:spcPts val="4552"/>
              </a:lnSpc>
              <a:buFont typeface="Arial"/>
              <a:buChar char="•"/>
            </a:pPr>
            <a:r>
              <a:rPr lang="en-US" sz="3251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Route and transport recomm</a:t>
            </a:r>
            <a:r>
              <a:rPr lang="en-US" sz="3251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endations based on cost, time, and sustainability.</a:t>
            </a:r>
          </a:p>
          <a:p>
            <a:pPr algn="just" marL="702097" indent="-351049" lvl="1">
              <a:lnSpc>
                <a:spcPts val="4552"/>
              </a:lnSpc>
              <a:buFont typeface="Arial"/>
              <a:buChar char="•"/>
            </a:pPr>
            <a:r>
              <a:rPr lang="en-US" sz="3251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Budget-friendly hotel period suggestions using past price trends.</a:t>
            </a:r>
          </a:p>
          <a:p>
            <a:pPr algn="just" marL="0" indent="0" lvl="0">
              <a:lnSpc>
                <a:spcPts val="455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021119" y="-700144"/>
            <a:ext cx="6677243" cy="9322943"/>
          </a:xfrm>
          <a:custGeom>
            <a:avLst/>
            <a:gdLst/>
            <a:ahLst/>
            <a:cxnLst/>
            <a:rect r="r" b="b" t="t" l="l"/>
            <a:pathLst>
              <a:path h="9322943" w="6677243">
                <a:moveTo>
                  <a:pt x="6677243" y="9322943"/>
                </a:moveTo>
                <a:lnTo>
                  <a:pt x="0" y="9322943"/>
                </a:lnTo>
                <a:lnTo>
                  <a:pt x="0" y="0"/>
                </a:lnTo>
                <a:lnTo>
                  <a:pt x="6677243" y="0"/>
                </a:lnTo>
                <a:lnTo>
                  <a:pt x="6677243" y="932294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955782" y="2372547"/>
            <a:ext cx="6303518" cy="6885753"/>
            <a:chOff x="0" y="0"/>
            <a:chExt cx="976580" cy="10667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6580" cy="1066783"/>
            </a:xfrm>
            <a:custGeom>
              <a:avLst/>
              <a:gdLst/>
              <a:ahLst/>
              <a:cxnLst/>
              <a:rect r="r" b="b" t="t" l="l"/>
              <a:pathLst>
                <a:path h="1066783" w="976580">
                  <a:moveTo>
                    <a:pt x="0" y="0"/>
                  </a:moveTo>
                  <a:lnTo>
                    <a:pt x="976580" y="0"/>
                  </a:lnTo>
                  <a:lnTo>
                    <a:pt x="976580" y="1066783"/>
                  </a:lnTo>
                  <a:lnTo>
                    <a:pt x="0" y="1066783"/>
                  </a:lnTo>
                  <a:close/>
                </a:path>
              </a:pathLst>
            </a:custGeom>
            <a:blipFill>
              <a:blip r:embed="rId5"/>
              <a:stretch>
                <a:fillRect l="-4618" t="0" r="-4618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2137059" y="3479299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04900"/>
            <a:ext cx="15042427" cy="219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81"/>
              </a:lnSpc>
            </a:pPr>
            <a:r>
              <a:rPr lang="en-US" b="true" sz="7801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IDE</a:t>
            </a:r>
            <a:r>
              <a:rPr lang="en-US" b="true" sz="7801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A NOVELTY &amp; </a:t>
            </a:r>
          </a:p>
          <a:p>
            <a:pPr algn="l" marL="0" indent="0" lvl="0">
              <a:lnSpc>
                <a:spcPts val="8581"/>
              </a:lnSpc>
            </a:pPr>
            <a:r>
              <a:rPr lang="en-US" b="true" sz="7801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CREATIVITY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59016"/>
            <a:ext cx="8965300" cy="5699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1"/>
              </a:lnSpc>
            </a:pPr>
            <a:r>
              <a:rPr lang="en-US" sz="3243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This system stands out by integrating weather, air quality, crowd analysis, cost trends, and eco-packing tips into a single smart travel recommendation platform.</a:t>
            </a:r>
          </a:p>
          <a:p>
            <a:pPr algn="just">
              <a:lnSpc>
                <a:spcPts val="4541"/>
              </a:lnSpc>
            </a:pPr>
          </a:p>
          <a:p>
            <a:pPr algn="just" marL="0" indent="0" lvl="0">
              <a:lnSpc>
                <a:spcPts val="4541"/>
              </a:lnSpc>
            </a:pPr>
            <a:r>
              <a:rPr lang="en-US" sz="3243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Unlike traditional apps, it proactively guides users on when and where to go, based on real-time environmental and social data, making it a unique blend of technology, sustainability, and convenience.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40041" y="102870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227940" y="-2321724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57385" y="374619"/>
            <a:ext cx="13373231" cy="9537761"/>
          </a:xfrm>
          <a:custGeom>
            <a:avLst/>
            <a:gdLst/>
            <a:ahLst/>
            <a:cxnLst/>
            <a:rect r="r" b="b" t="t" l="l"/>
            <a:pathLst>
              <a:path h="9537761" w="13373231">
                <a:moveTo>
                  <a:pt x="0" y="0"/>
                </a:moveTo>
                <a:lnTo>
                  <a:pt x="13373230" y="0"/>
                </a:lnTo>
                <a:lnTo>
                  <a:pt x="13373230" y="9537762"/>
                </a:lnTo>
                <a:lnTo>
                  <a:pt x="0" y="95377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34907" y="2141354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19175"/>
            <a:ext cx="11647600" cy="12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9"/>
              </a:lnSpc>
            </a:pPr>
            <a:r>
              <a:rPr lang="en-US" b="true" sz="8091">
                <a:solidFill>
                  <a:srgbClr val="1D1D1F"/>
                </a:solidFill>
                <a:latin typeface="Raleway Heavy"/>
                <a:ea typeface="Raleway Heavy"/>
                <a:cs typeface="Raleway Heavy"/>
                <a:sym typeface="Raleway Heavy"/>
              </a:rPr>
              <a:t> FEASIBILITY &amp;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75893"/>
            <a:ext cx="14362847" cy="266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5"/>
              </a:lnSpc>
            </a:pPr>
            <a:r>
              <a:rPr lang="en-US" sz="3208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The project uses freely available APIs and open data sources, making it affordable and implementable with standard development tools.</a:t>
            </a:r>
          </a:p>
          <a:p>
            <a:pPr algn="just">
              <a:lnSpc>
                <a:spcPts val="4235"/>
              </a:lnSpc>
            </a:pPr>
            <a:r>
              <a:rPr lang="en-US" sz="3208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 </a:t>
            </a:r>
          </a:p>
          <a:p>
            <a:pPr algn="just">
              <a:lnSpc>
                <a:spcPts val="4235"/>
              </a:lnSpc>
            </a:pPr>
            <a:r>
              <a:rPr lang="en-US" sz="3208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It can be built as a web or mobile app with basic integration of REST APIs and a user-friendly interface.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103039"/>
            <a:ext cx="15239979" cy="3629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9702" indent="-349851" lvl="1">
              <a:lnSpc>
                <a:spcPts val="4861"/>
              </a:lnSpc>
              <a:buFont typeface="Arial"/>
              <a:buChar char="•"/>
            </a:pPr>
            <a:r>
              <a:rPr lang="en-US" sz="3240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Scalable to include more countries and languages</a:t>
            </a:r>
          </a:p>
          <a:p>
            <a:pPr algn="just" marL="699702" indent="-349851" lvl="1">
              <a:lnSpc>
                <a:spcPts val="4861"/>
              </a:lnSpc>
              <a:buFont typeface="Arial"/>
              <a:buChar char="•"/>
            </a:pPr>
            <a:r>
              <a:rPr lang="en-US" sz="3240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Can expand with hotel price APIs, local events, or real-time alerts</a:t>
            </a:r>
          </a:p>
          <a:p>
            <a:pPr algn="just" marL="699702" indent="-349851" lvl="1">
              <a:lnSpc>
                <a:spcPts val="4861"/>
              </a:lnSpc>
              <a:buFont typeface="Arial"/>
              <a:buChar char="•"/>
            </a:pPr>
            <a:r>
              <a:rPr lang="en-US" sz="3240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Suitable for solo travelers, families, and eco-tourism platforms</a:t>
            </a:r>
          </a:p>
          <a:p>
            <a:pPr algn="just" marL="699702" indent="-349851" lvl="1">
              <a:lnSpc>
                <a:spcPts val="4861"/>
              </a:lnSpc>
              <a:buFont typeface="Arial"/>
              <a:buChar char="•"/>
            </a:pPr>
            <a:r>
              <a:rPr lang="en-US" sz="3240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Community features for travelers to share real-time experiences and crowd updates.</a:t>
            </a:r>
          </a:p>
          <a:p>
            <a:pPr algn="just">
              <a:lnSpc>
                <a:spcPts val="4861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2227940" y="-2321724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77" r="0" b="-8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10362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330646" y="0"/>
            <a:ext cx="7367716" cy="10287000"/>
          </a:xfrm>
          <a:custGeom>
            <a:avLst/>
            <a:gdLst/>
            <a:ahLst/>
            <a:cxnLst/>
            <a:rect r="r" b="b" t="t" l="l"/>
            <a:pathLst>
              <a:path h="10287000" w="7367716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73496" y="4317392"/>
            <a:ext cx="13741008" cy="176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578"/>
              </a:lnSpc>
            </a:pPr>
            <a:r>
              <a:rPr lang="en-US" b="true" sz="12343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DAGopajyeUA</dc:identifier>
  <dcterms:modified xsi:type="dcterms:W3CDTF">2011-08-01T06:04:30Z</dcterms:modified>
  <cp:revision>1</cp:revision>
  <dc:title>Pitch Deck</dc:title>
</cp:coreProperties>
</file>